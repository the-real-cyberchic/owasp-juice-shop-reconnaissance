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9DB79BB-9567-FF35-CCAF-98DBD2AE055D}">
          <p14:sldIdLst>
            <p14:sldId id="256"/>
            <p14:sldId id="257"/>
          </p14:sldIdLst>
        </p14:section>
        <p14:section name="Setup and Recon" id="{F6843797-DC9E-558B-D1B4-B6C29DBCF3B6}">
          <p14:sldIdLst>
            <p14:sldId id="258"/>
            <p14:sldId id="259"/>
            <p14:sldId id="260"/>
            <p14:sldId id="261"/>
          </p14:sldIdLst>
        </p14:section>
        <p14:section name="Analysis" id="{50BEACCA-221D-EAC2-02A6-7AAB963BC30C}">
          <p14:sldIdLst>
            <p14:sldId id="262"/>
            <p14:sldId id="263"/>
          </p14:sldIdLst>
        </p14:section>
        <p14:section name="Plan and Wrap-up" id="{E453C4E2-98F2-304A-6105-50E9E9256812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31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reconnaissance-only assessment of a locally deployed OWASP Juice Shop v17.1.1. No exploitation was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assets made it into the inventory table; three are rated High. The work stayed strictly at recon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runs locally so testing is isolated. The docker ps output shows the container up with port 3000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Public, authentication, user-restricted and admin routes were identified. The administration route surfaced from inspecting frontend JavaScript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Routes were identified from intercepted traffic captured via HAR. The admin configuration endpoint is notable because it answers without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stack: Angular front end, Node/Express back end, SQLite via Sequelize, and JWT bearer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assets, three rated High: the unauthenticated configuration endpoint, the login/JWT handling, and the basket endpoint with sequential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traces client traffic through the Angular routes to the Express REST APIs and SQLite. High-priority exposure points are highlighted in pink and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order follows risk: configuration access first, then basket IDOR, then JWT handling, then registration input handling, then the low-impact static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supporting each section: HAR capture, Nmap output, and UI and Developer Tools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three high-priority exposure points and the order for follow-up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5880"/>
            <a:ext cx="4480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  |  Attack Surface Mapping &amp; Reconnaissance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  |  Attack Surface Mapping &amp; Reconnaissance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7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09828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Surface Mapping &amp; Reconnaissance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54484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 (v17.1.1)</a:t>
            </a:r>
            <a:endParaRPr lang="en-US" sz="2000" dirty="0"/>
          </a:p>
        </p:txBody>
      </p:sp>
      <p:sp>
        <p:nvSpPr>
          <p:cNvPr id="4" name="Scope line"/>
          <p:cNvSpPr txBox="1"/>
          <p:nvPr/>
        </p:nvSpPr>
        <p:spPr>
          <a:xfrm>
            <a:off x="548640" y="291060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Reconnaissance, technology fingerprinting and attack surface mapping. No exploitation.</a:t>
            </a:r>
            <a:endParaRPr lang="en-US" sz="1400" dirty="0"/>
          </a:p>
        </p:txBody>
      </p:sp>
      <p:sp>
        <p:nvSpPr>
          <p:cNvPr id="5" name="Author"/>
          <p:cNvSpPr txBox="1"/>
          <p:nvPr/>
        </p:nvSpPr>
        <p:spPr>
          <a:xfrm>
            <a:off x="548640" y="385191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Mercy Itunuoluwa Olalere</a:t>
            </a:r>
            <a:endParaRPr lang="en-US" sz="1400" b="1" dirty="0"/>
          </a:p>
        </p:txBody>
      </p:sp>
      <p:pic>
        <p:nvPicPr>
          <p:cNvPr id="6" name="Juice Shop home screenshot" descr="OWASP Juice Shop home pag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1066" y="1017270"/>
            <a:ext cx="44805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at a Glance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tat 1"/>
          <p:cNvSpPr txBox="1"/>
          <p:nvPr/>
        </p:nvSpPr>
        <p:spPr>
          <a:xfrm>
            <a:off x="45720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5" name="Stat label 1"/>
          <p:cNvSpPr txBox="1"/>
          <p:nvPr/>
        </p:nvSpPr>
        <p:spPr>
          <a:xfrm>
            <a:off x="59436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and endpoints inventoried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590495" y="1143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tat 2"/>
          <p:cNvSpPr txBox="1"/>
          <p:nvPr/>
        </p:nvSpPr>
        <p:spPr>
          <a:xfrm>
            <a:off x="2590495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8" name="Stat label 2"/>
          <p:cNvSpPr txBox="1"/>
          <p:nvPr/>
        </p:nvSpPr>
        <p:spPr>
          <a:xfrm>
            <a:off x="2727655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attack surfaces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723790" y="1143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tat 3"/>
          <p:cNvSpPr txBox="1"/>
          <p:nvPr/>
        </p:nvSpPr>
        <p:spPr>
          <a:xfrm>
            <a:off x="472379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86095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layers fingerprinted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857086" y="1143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tat 4"/>
          <p:cNvSpPr txBox="1"/>
          <p:nvPr/>
        </p:nvSpPr>
        <p:spPr>
          <a:xfrm>
            <a:off x="6857086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F9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994246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run (recon only)</a:t>
            </a:r>
            <a:endParaRPr lang="en-US" sz="1400" dirty="0"/>
          </a:p>
        </p:txBody>
      </p:sp>
      <p:sp>
        <p:nvSpPr>
          <p:cNvPr id="15" name="Approach card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Approach heading"/>
          <p:cNvSpPr txBox="1"/>
          <p:nvPr/>
        </p:nvSpPr>
        <p:spPr>
          <a:xfrm>
            <a:off x="68580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surface was mapped</a:t>
            </a:r>
            <a:endParaRPr lang="en-US" sz="1600" dirty="0"/>
          </a:p>
        </p:txBody>
      </p:sp>
      <p:sp>
        <p:nvSpPr>
          <p:cNvPr id="17" name="Approach list"/>
          <p:cNvSpPr txBox="1"/>
          <p:nvPr/>
        </p:nvSpPr>
        <p:spPr>
          <a:xfrm>
            <a:off x="68580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traversal and client-side JavaScript route inspection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captured as a HAR archive to map backend routes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headers and source inspection to fingerprint the stack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3400" dirty="0"/>
          </a:p>
        </p:txBody>
      </p:sp>
      <p:sp>
        <p:nvSpPr>
          <p:cNvPr id="3" name="Badg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4" name="Badge text 1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Env label 1"/>
          <p:cNvSpPr txBox="1"/>
          <p:nvPr/>
        </p:nvSpPr>
        <p:spPr>
          <a:xfrm>
            <a:off x="10058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6" name="Env value 1"/>
          <p:cNvSpPr txBox="1"/>
          <p:nvPr/>
        </p:nvSpPr>
        <p:spPr>
          <a:xfrm>
            <a:off x="1005840" y="1435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virtual lab on Linux (Kali VM in VirtualBox), isolated from other networks</a:t>
            </a:r>
            <a:endParaRPr lang="en-US" sz="1400" dirty="0"/>
          </a:p>
        </p:txBody>
      </p:sp>
      <p:sp>
        <p:nvSpPr>
          <p:cNvPr id="7" name="Badge 2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8" name="Badge text 2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Env label 2"/>
          <p:cNvSpPr txBox="1"/>
          <p:nvPr/>
        </p:nvSpPr>
        <p:spPr>
          <a:xfrm>
            <a:off x="100584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0" name="Env value 2"/>
          <p:cNvSpPr txBox="1"/>
          <p:nvPr/>
        </p:nvSpPr>
        <p:spPr>
          <a:xfrm>
            <a:off x="1005840" y="23225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v17.1.1 (Node.js) running locally in a Docker container, published on port 3000</a:t>
            </a:r>
            <a:endParaRPr lang="en-US" sz="1400" dirty="0"/>
          </a:p>
        </p:txBody>
      </p:sp>
      <p:sp>
        <p:nvSpPr>
          <p:cNvPr id="11" name="Badge 3"/>
          <p:cNvSpPr/>
          <p:nvPr/>
        </p:nvSpPr>
        <p:spPr>
          <a:xfrm>
            <a:off x="457200" y="2962656"/>
            <a:ext cx="384048" cy="384048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2" name="Badge text 3"/>
          <p:cNvSpPr txBox="1"/>
          <p:nvPr/>
        </p:nvSpPr>
        <p:spPr>
          <a:xfrm>
            <a:off x="45720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Env label 3"/>
          <p:cNvSpPr txBox="1"/>
          <p:nvPr/>
        </p:nvSpPr>
        <p:spPr>
          <a:xfrm>
            <a:off x="1005840" y="2916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binding</a:t>
            </a:r>
            <a:endParaRPr lang="en-US" sz="1600" dirty="0"/>
          </a:p>
        </p:txBody>
      </p:sp>
      <p:sp>
        <p:nvSpPr>
          <p:cNvPr id="14" name="Env value 3"/>
          <p:cNvSpPr txBox="1"/>
          <p:nvPr/>
        </p:nvSpPr>
        <p:spPr>
          <a:xfrm>
            <a:off x="1005840" y="32095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(127.0.0.1)</a:t>
            </a:r>
            <a:endParaRPr lang="en-US" sz="1400" dirty="0"/>
          </a:p>
        </p:txBody>
      </p:sp>
      <p:sp>
        <p:nvSpPr>
          <p:cNvPr id="15" name="Badge 4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6" name="Badge text 4"/>
          <p:cNvSpPr txBox="1"/>
          <p:nvPr/>
        </p:nvSpPr>
        <p:spPr>
          <a:xfrm>
            <a:off x="456445" y="36526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Env label 4"/>
          <p:cNvSpPr txBox="1"/>
          <p:nvPr/>
        </p:nvSpPr>
        <p:spPr>
          <a:xfrm>
            <a:off x="960120" y="364781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8" name="Env value 4"/>
          <p:cNvSpPr txBox="1"/>
          <p:nvPr/>
        </p:nvSpPr>
        <p:spPr>
          <a:xfrm>
            <a:off x="960120" y="394041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rendered and answered client HTTP GET requests</a:t>
            </a:r>
            <a:endParaRPr lang="en-US" sz="1400" dirty="0"/>
          </a:p>
        </p:txBody>
      </p:sp>
      <p:sp>
        <p:nvSpPr>
          <p:cNvPr id="19" name="Terminal screenshot frame"/>
          <p:cNvSpPr/>
          <p:nvPr/>
        </p:nvSpPr>
        <p:spPr>
          <a:xfrm>
            <a:off x="5074920" y="1143000"/>
            <a:ext cx="3611880" cy="2070724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0" name="Terminal screenshot" descr="Termina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891" y="1169286"/>
            <a:ext cx="4260799" cy="2466444"/>
          </a:xfrm>
          <a:prstGeom prst="rect">
            <a:avLst/>
          </a:prstGeom>
        </p:spPr>
      </p:pic>
      <p:sp>
        <p:nvSpPr>
          <p:cNvPr id="21" name="Caption"/>
          <p:cNvSpPr txBox="1"/>
          <p:nvPr/>
        </p:nvSpPr>
        <p:spPr>
          <a:xfrm>
            <a:off x="4572000" y="3637623"/>
            <a:ext cx="4198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Terminal: juiceshop container up, 0.0.0.0:3000 mapped to 3000/tcp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&amp; Route Discovery</a:t>
            </a:r>
            <a:endParaRPr lang="en-US" sz="3400" dirty="0"/>
          </a:p>
        </p:txBody>
      </p:sp>
      <p:sp>
        <p:nvSpPr>
          <p:cNvPr id="3" name="Route card 1"/>
          <p:cNvSpPr/>
          <p:nvPr/>
        </p:nvSpPr>
        <p:spPr>
          <a:xfrm>
            <a:off x="457200" y="114300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Dot 1"/>
          <p:cNvSpPr/>
          <p:nvPr/>
        </p:nvSpPr>
        <p:spPr>
          <a:xfrm>
            <a:off x="594360" y="1298448"/>
            <a:ext cx="182880" cy="182880"/>
          </a:xfrm>
          <a:prstGeom prst="ellipse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Route heading 1"/>
          <p:cNvSpPr txBox="1"/>
          <p:nvPr/>
        </p:nvSpPr>
        <p:spPr>
          <a:xfrm>
            <a:off x="86868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</a:t>
            </a:r>
            <a:endParaRPr lang="en-US" sz="1500" dirty="0"/>
          </a:p>
        </p:txBody>
      </p:sp>
      <p:sp>
        <p:nvSpPr>
          <p:cNvPr id="6" name="Route list 1"/>
          <p:cNvSpPr txBox="1"/>
          <p:nvPr/>
        </p:nvSpPr>
        <p:spPr>
          <a:xfrm>
            <a:off x="59436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catalog (/#/search)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200" dirty="0"/>
          </a:p>
        </p:txBody>
      </p:sp>
      <p:sp>
        <p:nvSpPr>
          <p:cNvPr id="7" name="Route card 2"/>
          <p:cNvSpPr/>
          <p:nvPr/>
        </p:nvSpPr>
        <p:spPr>
          <a:xfrm>
            <a:off x="2971800" y="114300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Dot 2"/>
          <p:cNvSpPr/>
          <p:nvPr/>
        </p:nvSpPr>
        <p:spPr>
          <a:xfrm>
            <a:off x="3108960" y="1298448"/>
            <a:ext cx="182880" cy="18288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9" name="Route heading 2"/>
          <p:cNvSpPr txBox="1"/>
          <p:nvPr/>
        </p:nvSpPr>
        <p:spPr>
          <a:xfrm>
            <a:off x="338328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0" name="Route list 2"/>
          <p:cNvSpPr txBox="1"/>
          <p:nvPr/>
        </p:nvSpPr>
        <p:spPr>
          <a:xfrm>
            <a:off x="310896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(/#/login)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(/#/register)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(/#/forgot-password)</a:t>
            </a:r>
            <a:endParaRPr lang="en-US" sz="1200" dirty="0"/>
          </a:p>
        </p:txBody>
      </p:sp>
      <p:sp>
        <p:nvSpPr>
          <p:cNvPr id="11" name="Route card 3"/>
          <p:cNvSpPr/>
          <p:nvPr/>
        </p:nvSpPr>
        <p:spPr>
          <a:xfrm>
            <a:off x="457200" y="292608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Dot 3"/>
          <p:cNvSpPr/>
          <p:nvPr/>
        </p:nvSpPr>
        <p:spPr>
          <a:xfrm>
            <a:off x="594360" y="3081528"/>
            <a:ext cx="182880" cy="182880"/>
          </a:xfrm>
          <a:prstGeom prst="ellipse">
            <a:avLst/>
          </a:prstGeom>
          <a:solidFill>
            <a:srgbClr val="2F9E6E"/>
          </a:solidFill>
          <a:ln w="6350">
            <a:solidFill>
              <a:srgbClr val="2F9E6E"/>
            </a:solidFill>
            <a:prstDash val="solid"/>
          </a:ln>
        </p:spPr>
      </p:sp>
      <p:sp>
        <p:nvSpPr>
          <p:cNvPr id="13" name="Route heading 3"/>
          <p:cNvSpPr txBox="1"/>
          <p:nvPr/>
        </p:nvSpPr>
        <p:spPr>
          <a:xfrm>
            <a:off x="86868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User-restricted</a:t>
            </a:r>
            <a:endParaRPr lang="en-US" sz="1500" dirty="0"/>
          </a:p>
        </p:txBody>
      </p:sp>
      <p:sp>
        <p:nvSpPr>
          <p:cNvPr id="14" name="Route list 3"/>
          <p:cNvSpPr txBox="1"/>
          <p:nvPr/>
        </p:nvSpPr>
        <p:spPr>
          <a:xfrm>
            <a:off x="59436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Basket (/#/basket)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200" dirty="0"/>
          </a:p>
        </p:txBody>
      </p:sp>
      <p:sp>
        <p:nvSpPr>
          <p:cNvPr id="15" name="Route card 4"/>
          <p:cNvSpPr/>
          <p:nvPr/>
        </p:nvSpPr>
        <p:spPr>
          <a:xfrm>
            <a:off x="2971800" y="292608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Dot 4"/>
          <p:cNvSpPr/>
          <p:nvPr/>
        </p:nvSpPr>
        <p:spPr>
          <a:xfrm>
            <a:off x="3108960" y="3081528"/>
            <a:ext cx="182880" cy="182880"/>
          </a:xfrm>
          <a:prstGeom prst="ellipse">
            <a:avLst/>
          </a:prstGeom>
          <a:solidFill>
            <a:srgbClr val="E5484D"/>
          </a:solidFill>
          <a:ln w="6350">
            <a:solidFill>
              <a:srgbClr val="E5484D"/>
            </a:solidFill>
            <a:prstDash val="solid"/>
          </a:ln>
        </p:spPr>
      </p:sp>
      <p:sp>
        <p:nvSpPr>
          <p:cNvPr id="17" name="Route heading 4"/>
          <p:cNvSpPr txBox="1"/>
          <p:nvPr/>
        </p:nvSpPr>
        <p:spPr>
          <a:xfrm>
            <a:off x="338328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functions</a:t>
            </a:r>
            <a:endParaRPr lang="en-US" sz="1500" dirty="0"/>
          </a:p>
        </p:txBody>
      </p:sp>
      <p:sp>
        <p:nvSpPr>
          <p:cNvPr id="18" name="Route list 4"/>
          <p:cNvSpPr txBox="1"/>
          <p:nvPr/>
        </p:nvSpPr>
        <p:spPr>
          <a:xfrm>
            <a:off x="310896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Dashboard (/#/administration), found via frontend JS route inspection</a:t>
            </a:r>
            <a:endParaRPr lang="en-US" sz="1200" dirty="0"/>
          </a:p>
        </p:txBody>
      </p:sp>
      <p:sp>
        <p:nvSpPr>
          <p:cNvPr id="19" name="Catalog screenshot frame"/>
          <p:cNvSpPr/>
          <p:nvPr/>
        </p:nvSpPr>
        <p:spPr>
          <a:xfrm>
            <a:off x="5715000" y="1143000"/>
            <a:ext cx="3017520" cy="1736559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0" name="Catalog screenshot" descr="Catalog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88720"/>
            <a:ext cx="2926080" cy="1645119"/>
          </a:xfrm>
          <a:prstGeom prst="rect">
            <a:avLst/>
          </a:prstGeom>
        </p:spPr>
      </p:pic>
      <p:sp>
        <p:nvSpPr>
          <p:cNvPr id="21" name="Login screenshot frame"/>
          <p:cNvSpPr/>
          <p:nvPr/>
        </p:nvSpPr>
        <p:spPr>
          <a:xfrm>
            <a:off x="5715000" y="3016719"/>
            <a:ext cx="3017520" cy="1657872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2" name="Login screenshot" descr="Login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062439"/>
            <a:ext cx="2926080" cy="15664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Endpoint Mapping</a:t>
            </a:r>
            <a:endParaRPr lang="en-US" sz="3400" dirty="0"/>
          </a:p>
        </p:txBody>
      </p:sp>
      <p:sp>
        <p:nvSpPr>
          <p:cNvPr id="3" name="API row 1"/>
          <p:cNvSpPr/>
          <p:nvPr/>
        </p:nvSpPr>
        <p:spPr>
          <a:xfrm>
            <a:off x="457200" y="109728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" name="Method pill 1"/>
          <p:cNvSpPr/>
          <p:nvPr/>
        </p:nvSpPr>
        <p:spPr>
          <a:xfrm>
            <a:off x="566928" y="1197864"/>
            <a:ext cx="621792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Method 1"/>
          <p:cNvSpPr txBox="1"/>
          <p:nvPr/>
        </p:nvSpPr>
        <p:spPr>
          <a:xfrm>
            <a:off x="566928" y="119786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6" name="API text 1"/>
          <p:cNvSpPr txBox="1"/>
          <p:nvPr/>
        </p:nvSpPr>
        <p:spPr>
          <a:xfrm>
            <a:off x="1325880" y="111556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/api/SecurityQuestions/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registration security questions</a:t>
            </a:r>
            <a:endParaRPr lang="en-US" sz="1100" dirty="0"/>
          </a:p>
        </p:txBody>
      </p:sp>
      <p:sp>
        <p:nvSpPr>
          <p:cNvPr id="7" name="API row 2"/>
          <p:cNvSpPr/>
          <p:nvPr/>
        </p:nvSpPr>
        <p:spPr>
          <a:xfrm>
            <a:off x="457200" y="161848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" name="Method pill 2"/>
          <p:cNvSpPr/>
          <p:nvPr/>
        </p:nvSpPr>
        <p:spPr>
          <a:xfrm>
            <a:off x="566928" y="1719072"/>
            <a:ext cx="621792" cy="256032"/>
          </a:xfrm>
          <a:prstGeom prst="roundRect">
            <a:avLst>
              <a:gd name="adj" fmla="val 21429"/>
            </a:avLst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9" name="Method 2"/>
          <p:cNvSpPr txBox="1"/>
          <p:nvPr/>
        </p:nvSpPr>
        <p:spPr>
          <a:xfrm>
            <a:off x="566928" y="17190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0" name="API text 2"/>
          <p:cNvSpPr txBox="1"/>
          <p:nvPr/>
        </p:nvSpPr>
        <p:spPr>
          <a:xfrm>
            <a:off x="1325880" y="163677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account creation payloads</a:t>
            </a:r>
            <a:endParaRPr lang="en-US" sz="1100" dirty="0"/>
          </a:p>
        </p:txBody>
      </p:sp>
      <p:sp>
        <p:nvSpPr>
          <p:cNvPr id="11" name="API row 3"/>
          <p:cNvSpPr/>
          <p:nvPr/>
        </p:nvSpPr>
        <p:spPr>
          <a:xfrm>
            <a:off x="457200" y="213969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2" name="Method pill 3"/>
          <p:cNvSpPr/>
          <p:nvPr/>
        </p:nvSpPr>
        <p:spPr>
          <a:xfrm>
            <a:off x="566928" y="2240280"/>
            <a:ext cx="621792" cy="256032"/>
          </a:xfrm>
          <a:prstGeom prst="roundRect">
            <a:avLst>
              <a:gd name="adj" fmla="val 21429"/>
            </a:avLst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3" name="Method 3"/>
          <p:cNvSpPr txBox="1"/>
          <p:nvPr/>
        </p:nvSpPr>
        <p:spPr>
          <a:xfrm>
            <a:off x="566928" y="2240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4" name="API text 3"/>
          <p:cNvSpPr txBox="1"/>
          <p:nvPr/>
        </p:nvSpPr>
        <p:spPr>
          <a:xfrm>
            <a:off x="1325880" y="215798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/api/SecurityAnswers/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account recovery answers</a:t>
            </a:r>
            <a:endParaRPr lang="en-US" sz="1100" dirty="0"/>
          </a:p>
        </p:txBody>
      </p:sp>
      <p:sp>
        <p:nvSpPr>
          <p:cNvPr id="15" name="API row 4"/>
          <p:cNvSpPr/>
          <p:nvPr/>
        </p:nvSpPr>
        <p:spPr>
          <a:xfrm>
            <a:off x="457200" y="266090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6" name="Method pill 4"/>
          <p:cNvSpPr/>
          <p:nvPr/>
        </p:nvSpPr>
        <p:spPr>
          <a:xfrm>
            <a:off x="566928" y="2761488"/>
            <a:ext cx="621792" cy="256032"/>
          </a:xfrm>
          <a:prstGeom prst="roundRect">
            <a:avLst>
              <a:gd name="adj" fmla="val 21429"/>
            </a:avLst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7" name="Method 4"/>
          <p:cNvSpPr txBox="1"/>
          <p:nvPr/>
        </p:nvSpPr>
        <p:spPr>
          <a:xfrm>
            <a:off x="566928" y="27614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8" name="API text 4"/>
          <p:cNvSpPr txBox="1"/>
          <p:nvPr/>
        </p:nvSpPr>
        <p:spPr>
          <a:xfrm>
            <a:off x="1325880" y="26791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/rest/user/login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credentials, returns a JWT</a:t>
            </a:r>
            <a:endParaRPr lang="en-US" sz="1100" dirty="0"/>
          </a:p>
        </p:txBody>
      </p:sp>
      <p:sp>
        <p:nvSpPr>
          <p:cNvPr id="19" name="API row 5"/>
          <p:cNvSpPr/>
          <p:nvPr/>
        </p:nvSpPr>
        <p:spPr>
          <a:xfrm>
            <a:off x="457200" y="318211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0" name="Method pill 5"/>
          <p:cNvSpPr/>
          <p:nvPr/>
        </p:nvSpPr>
        <p:spPr>
          <a:xfrm>
            <a:off x="566928" y="3282696"/>
            <a:ext cx="621792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Method 5"/>
          <p:cNvSpPr txBox="1"/>
          <p:nvPr/>
        </p:nvSpPr>
        <p:spPr>
          <a:xfrm>
            <a:off x="566928" y="328269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API text 5"/>
          <p:cNvSpPr txBox="1"/>
          <p:nvPr/>
        </p:nvSpPr>
        <p:spPr>
          <a:xfrm>
            <a:off x="1325880" y="32004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/rest/user/whoami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active token validity</a:t>
            </a:r>
            <a:endParaRPr lang="en-US" sz="1100" dirty="0"/>
          </a:p>
        </p:txBody>
      </p:sp>
      <p:sp>
        <p:nvSpPr>
          <p:cNvPr id="23" name="API row 6"/>
          <p:cNvSpPr/>
          <p:nvPr/>
        </p:nvSpPr>
        <p:spPr>
          <a:xfrm>
            <a:off x="457200" y="37033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4" name="Method pill 6"/>
          <p:cNvSpPr/>
          <p:nvPr/>
        </p:nvSpPr>
        <p:spPr>
          <a:xfrm>
            <a:off x="566928" y="3803904"/>
            <a:ext cx="621792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Method 6"/>
          <p:cNvSpPr txBox="1"/>
          <p:nvPr/>
        </p:nvSpPr>
        <p:spPr>
          <a:xfrm>
            <a:off x="566928" y="38039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6" name="API text 6"/>
          <p:cNvSpPr txBox="1"/>
          <p:nvPr/>
        </p:nvSpPr>
        <p:spPr>
          <a:xfrm>
            <a:off x="1325880" y="37216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/rest/basket/{id}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cart contents by numeric ID</a:t>
            </a:r>
            <a:endParaRPr lang="en-US" sz="1100" dirty="0"/>
          </a:p>
        </p:txBody>
      </p:sp>
      <p:sp>
        <p:nvSpPr>
          <p:cNvPr id="27" name="API row 7"/>
          <p:cNvSpPr/>
          <p:nvPr/>
        </p:nvSpPr>
        <p:spPr>
          <a:xfrm>
            <a:off x="457200" y="422452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9525">
            <a:solidFill>
              <a:srgbClr val="F2B8BA"/>
            </a:solidFill>
            <a:prstDash val="solid"/>
          </a:ln>
        </p:spPr>
      </p:sp>
      <p:sp>
        <p:nvSpPr>
          <p:cNvPr id="28" name="Method pill 7"/>
          <p:cNvSpPr/>
          <p:nvPr/>
        </p:nvSpPr>
        <p:spPr>
          <a:xfrm>
            <a:off x="566928" y="4325112"/>
            <a:ext cx="621792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Method 7"/>
          <p:cNvSpPr txBox="1"/>
          <p:nvPr/>
        </p:nvSpPr>
        <p:spPr>
          <a:xfrm>
            <a:off x="566928" y="43251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0" name="API text 7"/>
          <p:cNvSpPr txBox="1"/>
          <p:nvPr/>
        </p:nvSpPr>
        <p:spPr>
          <a:xfrm>
            <a:off x="1325880" y="424281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/rest/admin/application-configuration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server settings without authentication</a:t>
            </a:r>
            <a:endParaRPr lang="en-US" sz="1100" dirty="0"/>
          </a:p>
        </p:txBody>
      </p:sp>
      <p:sp>
        <p:nvSpPr>
          <p:cNvPr id="31" name="Network tab screenshot frame"/>
          <p:cNvSpPr/>
          <p:nvPr/>
        </p:nvSpPr>
        <p:spPr>
          <a:xfrm>
            <a:off x="6126480" y="1097280"/>
            <a:ext cx="2560320" cy="1413117"/>
          </a:xfrm>
          <a:prstGeom prst="roundRect">
            <a:avLst>
              <a:gd name="adj" fmla="val 388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2" name="Network tab screenshot" descr="Network tab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2468880" cy="1321677"/>
          </a:xfrm>
          <a:prstGeom prst="rect">
            <a:avLst/>
          </a:prstGeom>
        </p:spPr>
      </p:pic>
      <p:sp>
        <p:nvSpPr>
          <p:cNvPr id="33" name="Caption"/>
          <p:cNvSpPr txBox="1"/>
          <p:nvPr/>
        </p:nvSpPr>
        <p:spPr>
          <a:xfrm>
            <a:off x="6172200" y="2574405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tab: HAR capture of API calls</a:t>
            </a:r>
            <a:endParaRPr lang="en-US" sz="1100" dirty="0"/>
          </a:p>
        </p:txBody>
      </p:sp>
      <p:sp>
        <p:nvSpPr>
          <p:cNvPr id="34" name="Config callout"/>
          <p:cNvSpPr/>
          <p:nvPr/>
        </p:nvSpPr>
        <p:spPr>
          <a:xfrm>
            <a:off x="6126480" y="306324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Config callout text"/>
          <p:cNvSpPr txBox="1"/>
          <p:nvPr/>
        </p:nvSpPr>
        <p:spPr>
          <a:xfrm>
            <a:off x="6263640" y="3154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3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exposure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configuration endpoint returns server settings with no login required.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Fingerprinting</a:t>
            </a:r>
            <a:endParaRPr lang="en-US" sz="3400" dirty="0"/>
          </a:p>
        </p:txBody>
      </p:sp>
      <p:sp>
        <p:nvSpPr>
          <p:cNvPr id="3" name="Stack card 1"/>
          <p:cNvSpPr/>
          <p:nvPr/>
        </p:nvSpPr>
        <p:spPr>
          <a:xfrm>
            <a:off x="457200" y="12344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Layer chip 1"/>
          <p:cNvSpPr/>
          <p:nvPr/>
        </p:nvSpPr>
        <p:spPr>
          <a:xfrm>
            <a:off x="640080" y="14173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Layer label 1"/>
          <p:cNvSpPr txBox="1"/>
          <p:nvPr/>
        </p:nvSpPr>
        <p:spPr>
          <a:xfrm>
            <a:off x="64008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ch 1"/>
          <p:cNvSpPr txBox="1"/>
          <p:nvPr/>
        </p:nvSpPr>
        <p:spPr>
          <a:xfrm>
            <a:off x="640080" y="18745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SPA</a:t>
            </a:r>
            <a:endParaRPr lang="en-US" sz="2000" dirty="0"/>
          </a:p>
        </p:txBody>
      </p:sp>
      <p:sp>
        <p:nvSpPr>
          <p:cNvPr id="7" name="Evidence 1"/>
          <p:cNvSpPr txBox="1"/>
          <p:nvPr/>
        </p:nvSpPr>
        <p:spPr>
          <a:xfrm>
            <a:off x="640080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 and runtime.js bundles</a:t>
            </a:r>
            <a:endParaRPr lang="en-US" sz="1300" dirty="0"/>
          </a:p>
        </p:txBody>
      </p:sp>
      <p:sp>
        <p:nvSpPr>
          <p:cNvPr id="8" name="Arrow 1"/>
          <p:cNvSpPr txBox="1"/>
          <p:nvPr/>
        </p:nvSpPr>
        <p:spPr>
          <a:xfrm>
            <a:off x="2286000" y="210312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tack card 2"/>
          <p:cNvSpPr/>
          <p:nvPr/>
        </p:nvSpPr>
        <p:spPr>
          <a:xfrm>
            <a:off x="2590495" y="12344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Layer chip 2"/>
          <p:cNvSpPr/>
          <p:nvPr/>
        </p:nvSpPr>
        <p:spPr>
          <a:xfrm>
            <a:off x="2773375" y="14173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1" name="Layer label 2"/>
          <p:cNvSpPr txBox="1"/>
          <p:nvPr/>
        </p:nvSpPr>
        <p:spPr>
          <a:xfrm>
            <a:off x="2773375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ch 2"/>
          <p:cNvSpPr txBox="1"/>
          <p:nvPr/>
        </p:nvSpPr>
        <p:spPr>
          <a:xfrm>
            <a:off x="2773375" y="18745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2000" dirty="0"/>
          </a:p>
        </p:txBody>
      </p:sp>
      <p:sp>
        <p:nvSpPr>
          <p:cNvPr id="13" name="Evidence 2"/>
          <p:cNvSpPr txBox="1"/>
          <p:nvPr/>
        </p:nvSpPr>
        <p:spPr>
          <a:xfrm>
            <a:off x="2773375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X-Powered-By: Express</a:t>
            </a:r>
            <a:endParaRPr lang="en-US" sz="1300" dirty="0"/>
          </a:p>
        </p:txBody>
      </p:sp>
      <p:sp>
        <p:nvSpPr>
          <p:cNvPr id="14" name="Arrow 2"/>
          <p:cNvSpPr txBox="1"/>
          <p:nvPr/>
        </p:nvSpPr>
        <p:spPr>
          <a:xfrm>
            <a:off x="4419295" y="210312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tack card 3"/>
          <p:cNvSpPr/>
          <p:nvPr/>
        </p:nvSpPr>
        <p:spPr>
          <a:xfrm>
            <a:off x="4723790" y="12344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Layer chip 3"/>
          <p:cNvSpPr/>
          <p:nvPr/>
        </p:nvSpPr>
        <p:spPr>
          <a:xfrm>
            <a:off x="4906670" y="14173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2F9E6E"/>
          </a:solidFill>
          <a:ln w="6350">
            <a:solidFill>
              <a:srgbClr val="2F9E6E"/>
            </a:solidFill>
            <a:prstDash val="solid"/>
          </a:ln>
        </p:spPr>
      </p:sp>
      <p:sp>
        <p:nvSpPr>
          <p:cNvPr id="17" name="Layer label 3"/>
          <p:cNvSpPr txBox="1"/>
          <p:nvPr/>
        </p:nvSpPr>
        <p:spPr>
          <a:xfrm>
            <a:off x="490667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ch 3"/>
          <p:cNvSpPr txBox="1"/>
          <p:nvPr/>
        </p:nvSpPr>
        <p:spPr>
          <a:xfrm>
            <a:off x="4906670" y="18745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2000" dirty="0"/>
          </a:p>
        </p:txBody>
      </p:sp>
      <p:sp>
        <p:nvSpPr>
          <p:cNvPr id="19" name="Evidence 3"/>
          <p:cNvSpPr txBox="1"/>
          <p:nvPr/>
        </p:nvSpPr>
        <p:spPr>
          <a:xfrm>
            <a:off x="4906670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through the Sequelize ORM</a:t>
            </a:r>
            <a:endParaRPr lang="en-US" sz="1300" dirty="0"/>
          </a:p>
        </p:txBody>
      </p:sp>
      <p:sp>
        <p:nvSpPr>
          <p:cNvPr id="20" name="Arrow 3"/>
          <p:cNvSpPr txBox="1"/>
          <p:nvPr/>
        </p:nvSpPr>
        <p:spPr>
          <a:xfrm>
            <a:off x="6552590" y="2103120"/>
            <a:ext cx="304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tack card 4"/>
          <p:cNvSpPr/>
          <p:nvPr/>
        </p:nvSpPr>
        <p:spPr>
          <a:xfrm>
            <a:off x="6857086" y="12344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Layer chip 4"/>
          <p:cNvSpPr/>
          <p:nvPr/>
        </p:nvSpPr>
        <p:spPr>
          <a:xfrm>
            <a:off x="7039966" y="14173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3" name="Layer label 4"/>
          <p:cNvSpPr txBox="1"/>
          <p:nvPr/>
        </p:nvSpPr>
        <p:spPr>
          <a:xfrm>
            <a:off x="7039966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4" name="Tech 4"/>
          <p:cNvSpPr txBox="1"/>
          <p:nvPr/>
        </p:nvSpPr>
        <p:spPr>
          <a:xfrm>
            <a:off x="7039966" y="18745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2000" dirty="0"/>
          </a:p>
        </p:txBody>
      </p:sp>
      <p:sp>
        <p:nvSpPr>
          <p:cNvPr id="25" name="Evidence 4"/>
          <p:cNvSpPr txBox="1"/>
          <p:nvPr/>
        </p:nvSpPr>
        <p:spPr>
          <a:xfrm>
            <a:off x="7039966" y="26974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tokens on API requests</a:t>
            </a:r>
            <a:endParaRPr lang="en-US" sz="1300" dirty="0"/>
          </a:p>
        </p:txBody>
      </p:sp>
      <p:sp>
        <p:nvSpPr>
          <p:cNvPr id="26" name="Method banner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Method banner text"/>
          <p:cNvSpPr txBox="1"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through system inspection, HTTP response headers and source inspection.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Surface Inventory</a:t>
            </a:r>
            <a:endParaRPr lang="en-US" sz="3400" dirty="0"/>
          </a:p>
        </p:txBody>
      </p:sp>
      <p:graphicFrame>
        <p:nvGraphicFramePr>
          <p:cNvPr id="8" name="Attack surface invento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8386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/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relevance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http://localhost:3000/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 to client bundles and unlinked JS routes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/rest/admin/application-configuration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/ Express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leakage: OAuth parameters, chatbot config and defaults without 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/rest/user/login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/ 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authentication; password hashes inside returned JWT 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/rest/basket/{id}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 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/ Express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IDOR risk: sequential integer IDs enable object tampering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/api/Users/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/ SQLite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vector for SQL injection or BOLA during user creation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/api/SecurityQuestions/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/ SQLite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Enumeration vector for security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Surface Diagram</a:t>
            </a:r>
            <a:endParaRPr lang="en-US" sz="3400" dirty="0"/>
          </a:p>
        </p:txBody>
      </p:sp>
      <p:sp>
        <p:nvSpPr>
          <p:cNvPr id="3" name="Diagram frame"/>
          <p:cNvSpPr/>
          <p:nvPr/>
        </p:nvSpPr>
        <p:spPr>
          <a:xfrm>
            <a:off x="411480" y="1005840"/>
            <a:ext cx="4318372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Attack surface architecture diagram" descr="Diagram tracing traffic from the browser through Angular routes to Express REST APIs and the SQLite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226932" cy="3611880"/>
          </a:xfrm>
          <a:prstGeom prst="rect">
            <a:avLst/>
          </a:prstGeom>
        </p:spPr>
      </p:pic>
      <p:sp>
        <p:nvSpPr>
          <p:cNvPr id="5" name="Diagram note 1"/>
          <p:cNvSpPr/>
          <p:nvPr/>
        </p:nvSpPr>
        <p:spPr>
          <a:xfrm>
            <a:off x="5004172" y="1051560"/>
            <a:ext cx="3682628" cy="1097280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Diagram note text 1"/>
          <p:cNvSpPr txBox="1"/>
          <p:nvPr/>
        </p:nvSpPr>
        <p:spPr>
          <a:xfrm>
            <a:off x="5141332" y="1124712"/>
            <a:ext cx="34083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 SPA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enters on port 3000 and hits Angular routes, then Express REST APIs, then SQLite.</a:t>
            </a:r>
            <a:endParaRPr lang="en-US" sz="1400" dirty="0"/>
          </a:p>
        </p:txBody>
      </p:sp>
      <p:sp>
        <p:nvSpPr>
          <p:cNvPr id="7" name="Diagram note 2"/>
          <p:cNvSpPr/>
          <p:nvPr/>
        </p:nvSpPr>
        <p:spPr>
          <a:xfrm>
            <a:off x="5004172" y="2331720"/>
            <a:ext cx="3682628" cy="1097280"/>
          </a:xfrm>
          <a:prstGeom prst="roundRect">
            <a:avLst>
              <a:gd name="adj" fmla="val 8333"/>
            </a:avLst>
          </a:prstGeom>
          <a:solidFill>
            <a:srgbClr val="FBD9EC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Diagram note text 2"/>
          <p:cNvSpPr txBox="1"/>
          <p:nvPr/>
        </p:nvSpPr>
        <p:spPr>
          <a:xfrm>
            <a:off x="5141332" y="2404872"/>
            <a:ext cx="34083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A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leak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configuration disclosure, shown in pink.</a:t>
            </a:r>
            <a:endParaRPr lang="en-US" sz="1400" dirty="0"/>
          </a:p>
        </p:txBody>
      </p:sp>
      <p:sp>
        <p:nvSpPr>
          <p:cNvPr id="9" name="Diagram note 3"/>
          <p:cNvSpPr/>
          <p:nvPr/>
        </p:nvSpPr>
        <p:spPr>
          <a:xfrm>
            <a:off x="5004172" y="3611880"/>
            <a:ext cx="3682628" cy="1097280"/>
          </a:xfrm>
          <a:prstGeom prst="roundRect">
            <a:avLst>
              <a:gd name="adj" fmla="val 8333"/>
            </a:avLst>
          </a:prstGeom>
          <a:solidFill>
            <a:srgbClr val="FDE3E4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Diagram note text 3"/>
          <p:cNvSpPr txBox="1"/>
          <p:nvPr/>
        </p:nvSpPr>
        <p:spPr>
          <a:xfrm>
            <a:off x="5141332" y="3685032"/>
            <a:ext cx="34083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3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endpoint with sequential IDs, shown in 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Testing Plan</a:t>
            </a:r>
            <a:endParaRPr lang="en-US" sz="3400" dirty="0"/>
          </a:p>
        </p:txBody>
      </p:sp>
      <p:sp>
        <p:nvSpPr>
          <p:cNvPr id="3" name="HIGH header"/>
          <p:cNvSpPr/>
          <p:nvPr/>
        </p:nvSpPr>
        <p:spPr>
          <a:xfrm>
            <a:off x="457200" y="109728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 w="6350">
            <a:solidFill>
              <a:srgbClr val="E5484D"/>
            </a:solidFill>
            <a:prstDash val="solid"/>
          </a:ln>
        </p:spPr>
      </p:sp>
      <p:sp>
        <p:nvSpPr>
          <p:cNvPr id="4" name="HIGH header text"/>
          <p:cNvSpPr txBox="1"/>
          <p:nvPr/>
        </p:nvSpPr>
        <p:spPr>
          <a:xfrm>
            <a:off x="457200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400" dirty="0"/>
          </a:p>
        </p:txBody>
      </p:sp>
      <p:sp>
        <p:nvSpPr>
          <p:cNvPr id="5" name="HIGH body"/>
          <p:cNvSpPr/>
          <p:nvPr/>
        </p:nvSpPr>
        <p:spPr>
          <a:xfrm>
            <a:off x="457200" y="1572768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HIGH items"/>
          <p:cNvSpPr txBox="1"/>
          <p:nvPr/>
        </p:nvSpPr>
        <p:spPr>
          <a:xfrm>
            <a:off x="594360" y="169164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Unauthenticated config access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B3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/rest/admin/application-configuration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internal routes, credentials and system settings without auth.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IDOR in basket operations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B3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/rest/basket/{id}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IDs let attackers read or modify other users' carts.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Authentication &amp; JWT security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B3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/rest/user/login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JWT claims for over-disclosure (password hashes) and weak signature checks.</a:t>
            </a:r>
            <a:endParaRPr lang="en-US" sz="1300" dirty="0"/>
          </a:p>
        </p:txBody>
      </p:sp>
      <p:sp>
        <p:nvSpPr>
          <p:cNvPr id="7" name="MEDIUM header"/>
          <p:cNvSpPr/>
          <p:nvPr/>
        </p:nvSpPr>
        <p:spPr>
          <a:xfrm>
            <a:off x="3931920" y="10972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</p:sp>
      <p:sp>
        <p:nvSpPr>
          <p:cNvPr id="8" name="MEDIUM header text"/>
          <p:cNvSpPr txBox="1"/>
          <p:nvPr/>
        </p:nvSpPr>
        <p:spPr>
          <a:xfrm>
            <a:off x="3931920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400" dirty="0"/>
          </a:p>
        </p:txBody>
      </p:sp>
      <p:sp>
        <p:nvSpPr>
          <p:cNvPr id="9" name="MEDIUM body"/>
          <p:cNvSpPr/>
          <p:nvPr/>
        </p:nvSpPr>
        <p:spPr>
          <a:xfrm>
            <a:off x="3931920" y="1572768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MEDIUM items"/>
          <p:cNvSpPr txBox="1"/>
          <p:nvPr/>
        </p:nvSpPr>
        <p:spPr>
          <a:xfrm>
            <a:off x="4069080" y="169164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input fields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B3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input sanitization, SQL/NoSQL injection and mass assignment.</a:t>
            </a:r>
            <a:endParaRPr lang="en-US" sz="1300" dirty="0"/>
          </a:p>
        </p:txBody>
      </p:sp>
      <p:sp>
        <p:nvSpPr>
          <p:cNvPr id="11" name="LOW header"/>
          <p:cNvSpPr/>
          <p:nvPr/>
        </p:nvSpPr>
        <p:spPr>
          <a:xfrm>
            <a:off x="6400800" y="10972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2F9E6E"/>
          </a:solidFill>
          <a:ln w="6350">
            <a:solidFill>
              <a:srgbClr val="2F9E6E"/>
            </a:solidFill>
            <a:prstDash val="solid"/>
          </a:ln>
        </p:spPr>
      </p:sp>
      <p:sp>
        <p:nvSpPr>
          <p:cNvPr id="12" name="LOW header text"/>
          <p:cNvSpPr txBox="1"/>
          <p:nvPr/>
        </p:nvSpPr>
        <p:spPr>
          <a:xfrm>
            <a:off x="640080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1400" dirty="0"/>
          </a:p>
        </p:txBody>
      </p:sp>
      <p:sp>
        <p:nvSpPr>
          <p:cNvPr id="13" name="LOW body"/>
          <p:cNvSpPr/>
          <p:nvPr/>
        </p:nvSpPr>
        <p:spPr>
          <a:xfrm>
            <a:off x="6400800" y="1572768"/>
            <a:ext cx="2286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LOW items"/>
          <p:cNvSpPr txBox="1"/>
          <p:nvPr/>
        </p:nvSpPr>
        <p:spPr>
          <a:xfrm>
            <a:off x="6537960" y="1691640"/>
            <a:ext cx="2011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static endpoints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1F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/api/SecurityQuestions/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A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impact; mostly static informational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3400" dirty="0"/>
          </a:p>
        </p:txBody>
      </p:sp>
      <p:sp>
        <p:nvSpPr>
          <p:cNvPr id="3" name="Evidence 1 frame"/>
          <p:cNvSpPr/>
          <p:nvPr/>
        </p:nvSpPr>
        <p:spPr>
          <a:xfrm>
            <a:off x="457200" y="1097280"/>
            <a:ext cx="2651760" cy="1530919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Evidence 1" descr="Evidenc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2560320" cy="1439479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02920" y="2673919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running on port 3000</a:t>
            </a:r>
            <a:endParaRPr lang="en-US" sz="1100" dirty="0"/>
          </a:p>
        </p:txBody>
      </p:sp>
      <p:sp>
        <p:nvSpPr>
          <p:cNvPr id="6" name="Evidence 2 frame"/>
          <p:cNvSpPr/>
          <p:nvPr/>
        </p:nvSpPr>
        <p:spPr>
          <a:xfrm>
            <a:off x="3154680" y="1097280"/>
            <a:ext cx="2651760" cy="1462068"/>
          </a:xfrm>
          <a:prstGeom prst="roundRect">
            <a:avLst>
              <a:gd name="adj" fmla="val 375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7" name="Evidence 2" descr="Evidenc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43000"/>
            <a:ext cx="2560320" cy="137062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200400" y="26050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</a:t>
            </a:r>
            <a:endParaRPr lang="en-US" sz="1100" dirty="0"/>
          </a:p>
        </p:txBody>
      </p:sp>
      <p:sp>
        <p:nvSpPr>
          <p:cNvPr id="9" name="Evidence 3 frame"/>
          <p:cNvSpPr/>
          <p:nvPr/>
        </p:nvSpPr>
        <p:spPr>
          <a:xfrm>
            <a:off x="457200" y="2926080"/>
            <a:ext cx="2651760" cy="1462068"/>
          </a:xfrm>
          <a:prstGeom prst="roundRect">
            <a:avLst>
              <a:gd name="adj" fmla="val 3752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0" name="Evidence 3" descr="Evidenc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71800"/>
            <a:ext cx="2560320" cy="1370628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502920" y="44338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tab: API requests</a:t>
            </a:r>
            <a:endParaRPr lang="en-US" sz="1100" dirty="0"/>
          </a:p>
        </p:txBody>
      </p:sp>
      <p:sp>
        <p:nvSpPr>
          <p:cNvPr id="12" name="Evidence 4 frame"/>
          <p:cNvSpPr/>
          <p:nvPr/>
        </p:nvSpPr>
        <p:spPr>
          <a:xfrm>
            <a:off x="3154680" y="292608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3" name="Evidence 4" descr="Evidenc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971800"/>
            <a:ext cx="2560320" cy="1371600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320040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Tools: JWT response</a:t>
            </a:r>
            <a:endParaRPr lang="en-US" sz="1100" dirty="0"/>
          </a:p>
        </p:txBody>
      </p:sp>
      <p:sp>
        <p:nvSpPr>
          <p:cNvPr id="15" name="Evidence list card"/>
          <p:cNvSpPr/>
          <p:nvPr/>
        </p:nvSpPr>
        <p:spPr>
          <a:xfrm>
            <a:off x="5943600" y="10972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Evidence list"/>
          <p:cNvSpPr txBox="1"/>
          <p:nvPr/>
        </p:nvSpPr>
        <p:spPr>
          <a:xfrm>
            <a:off x="6126480" y="1234440"/>
            <a:ext cx="2423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artifacts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logs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trace of the browsing session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 output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result confirming the service on port 3000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 flow and Developer Tools network logs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Next Steps</a:t>
            </a:r>
            <a:endParaRPr lang="en-US" sz="3400" dirty="0"/>
          </a:p>
        </p:txBody>
      </p:sp>
      <p:sp>
        <p:nvSpPr>
          <p:cNvPr id="3" name="Takeaway card 1"/>
          <p:cNvSpPr/>
          <p:nvPr/>
        </p:nvSpPr>
        <p:spPr>
          <a:xfrm>
            <a:off x="457200" y="1143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4213A"/>
          </a:solidFill>
          <a:ln w="9525">
            <a:solidFill>
              <a:srgbClr val="26375A"/>
            </a:solidFill>
            <a:prstDash val="solid"/>
          </a:ln>
        </p:spPr>
      </p:sp>
      <p:sp>
        <p:nvSpPr>
          <p:cNvPr id="4" name="Takeaway dot 1"/>
          <p:cNvSpPr/>
          <p:nvPr/>
        </p:nvSpPr>
        <p:spPr>
          <a:xfrm>
            <a:off x="640080" y="1325880"/>
            <a:ext cx="274320" cy="274320"/>
          </a:xfrm>
          <a:prstGeom prst="ellipse">
            <a:avLst/>
          </a:prstGeom>
          <a:solidFill>
            <a:srgbClr val="E5484D"/>
          </a:solidFill>
          <a:ln w="6350">
            <a:solidFill>
              <a:srgbClr val="E5484D"/>
            </a:solidFill>
            <a:prstDash val="solid"/>
          </a:ln>
        </p:spPr>
      </p:sp>
      <p:sp>
        <p:nvSpPr>
          <p:cNvPr id="5" name="Takeaway heading 1"/>
          <p:cNvSpPr txBox="1"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configuration</a:t>
            </a:r>
            <a:endParaRPr lang="en-US" sz="1700" dirty="0"/>
          </a:p>
        </p:txBody>
      </p:sp>
      <p:sp>
        <p:nvSpPr>
          <p:cNvPr id="6" name="Takeaway text 1"/>
          <p:cNvSpPr txBox="1"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5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configuration endpoint answers without authentication.</a:t>
            </a:r>
            <a:endParaRPr lang="en-US" sz="1400" dirty="0"/>
          </a:p>
        </p:txBody>
      </p:sp>
      <p:sp>
        <p:nvSpPr>
          <p:cNvPr id="7" name="Takeaway card 2"/>
          <p:cNvSpPr/>
          <p:nvPr/>
        </p:nvSpPr>
        <p:spPr>
          <a:xfrm>
            <a:off x="3246120" y="1143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4213A"/>
          </a:solidFill>
          <a:ln w="9525">
            <a:solidFill>
              <a:srgbClr val="26375A"/>
            </a:solidFill>
            <a:prstDash val="solid"/>
          </a:ln>
        </p:spPr>
      </p:sp>
      <p:sp>
        <p:nvSpPr>
          <p:cNvPr id="8" name="Takeaway dot 2"/>
          <p:cNvSpPr/>
          <p:nvPr/>
        </p:nvSpPr>
        <p:spPr>
          <a:xfrm>
            <a:off x="3429000" y="1325880"/>
            <a:ext cx="274320" cy="27432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9" name="Takeaway heading 2"/>
          <p:cNvSpPr txBox="1"/>
          <p:nvPr/>
        </p:nvSpPr>
        <p:spPr>
          <a:xfrm>
            <a:off x="34290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object IDs</a:t>
            </a:r>
            <a:endParaRPr lang="en-US" sz="1700" dirty="0"/>
          </a:p>
        </p:txBody>
      </p:sp>
      <p:sp>
        <p:nvSpPr>
          <p:cNvPr id="10" name="Takeaway text 2"/>
          <p:cNvSpPr txBox="1"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5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basket IDs create an IDOR risk.</a:t>
            </a:r>
            <a:endParaRPr lang="en-US" sz="1400" dirty="0"/>
          </a:p>
        </p:txBody>
      </p:sp>
      <p:sp>
        <p:nvSpPr>
          <p:cNvPr id="11" name="Takeaway card 3"/>
          <p:cNvSpPr/>
          <p:nvPr/>
        </p:nvSpPr>
        <p:spPr>
          <a:xfrm>
            <a:off x="6035040" y="1143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4213A"/>
          </a:solidFill>
          <a:ln w="9525">
            <a:solidFill>
              <a:srgbClr val="26375A"/>
            </a:solidFill>
            <a:prstDash val="solid"/>
          </a:ln>
        </p:spPr>
      </p:sp>
      <p:sp>
        <p:nvSpPr>
          <p:cNvPr id="12" name="Takeaway dot 3"/>
          <p:cNvSpPr/>
          <p:nvPr/>
        </p:nvSpPr>
        <p:spPr>
          <a:xfrm>
            <a:off x="6217920" y="1325880"/>
            <a:ext cx="274320" cy="274320"/>
          </a:xfrm>
          <a:prstGeom prst="ellipse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akeaway heading 3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over-disclosure</a:t>
            </a:r>
            <a:endParaRPr lang="en-US" sz="1700" dirty="0"/>
          </a:p>
        </p:txBody>
      </p:sp>
      <p:sp>
        <p:nvSpPr>
          <p:cNvPr id="14" name="Takeaway text 3"/>
          <p:cNvSpPr txBox="1"/>
          <p:nvPr/>
        </p:nvSpPr>
        <p:spPr>
          <a:xfrm>
            <a:off x="621792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5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payloads from login need a close look for sensitive claims.</a:t>
            </a:r>
            <a:endParaRPr lang="en-US" sz="1400" dirty="0"/>
          </a:p>
        </p:txBody>
      </p:sp>
      <p:sp>
        <p:nvSpPr>
          <p:cNvPr id="15" name="Next steps card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6" name="Next steps text"/>
          <p:cNvSpPr txBox="1"/>
          <p:nvPr/>
        </p:nvSpPr>
        <p:spPr>
          <a:xfrm>
            <a:off x="731520" y="33375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follow-up security testing in priority order: configuration access, basket IDOR, JWT security, then registration input handling.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C87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ice Shop Recon">
  <a:themeElements>
    <a:clrScheme name="Juice Shop Recon">
      <a:dk1>
        <a:srgbClr val="0B1220"/>
      </a:dk1>
      <a:lt1>
        <a:srgbClr val="FFFFFF"/>
      </a:lt1>
      <a:dk2>
        <a:srgbClr val="14213A"/>
      </a:dk2>
      <a:lt2>
        <a:srgbClr val="F4F6FA"/>
      </a:lt2>
      <a:accent1>
        <a:srgbClr val="F28C28"/>
      </a:accent1>
      <a:accent2>
        <a:srgbClr val="E5484D"/>
      </a:accent2>
      <a:accent3>
        <a:srgbClr val="2F9E6E"/>
      </a:accent3>
      <a:accent4>
        <a:srgbClr val="3B82F6"/>
      </a:accent4>
      <a:accent5>
        <a:srgbClr val="8B5CF6"/>
      </a:accent5>
      <a:accent6>
        <a:srgbClr val="F5B83D"/>
      </a:accent6>
      <a:hlink>
        <a:srgbClr val="F28C28"/>
      </a:hlink>
      <a:folHlink>
        <a:srgbClr val="8B5CF6"/>
      </a:folHlink>
    </a:clrScheme>
    <a:fontScheme name="Juice Shop Rec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1061</Words>
  <Application>Microsoft Office PowerPoint</Application>
  <PresentationFormat>On-screen Show (16:9)</PresentationFormat>
  <Paragraphs>210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Juice Shop Recon</vt:lpstr>
      <vt:lpstr>Attack Surface Mapping &amp; Reconnaissance</vt:lpstr>
      <vt:lpstr>Assessment at a Glance</vt:lpstr>
      <vt:lpstr>Environment Setup</vt:lpstr>
      <vt:lpstr>Web Application &amp; Route Discovery</vt:lpstr>
      <vt:lpstr>API &amp; Endpoint Mapping</vt:lpstr>
      <vt:lpstr>Technology Fingerprinting</vt:lpstr>
      <vt:lpstr>Attack Surface Inventory</vt:lpstr>
      <vt:lpstr>Attack Surface Diagram</vt:lpstr>
      <vt:lpstr>Prioritized Testing Plan</vt:lpstr>
      <vt:lpstr>Evidence</vt:lpstr>
      <vt:lpstr>Key Takeaways &amp;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Attack Surface Mapping &amp; Reconnaissance: OWASP Juice Shop</dc:title>
  <dc:subject>PptxGenJS Presentation</dc:subject>
  <dc:creator>Mercy Itunuoluwa Olalere</dc:creator>
  <cp:lastModifiedBy>MERCY OLALERE</cp:lastModifiedBy>
  <cp:revision>3</cp:revision>
  <dcterms:created xsi:type="dcterms:W3CDTF">2026-10-05T22:49:06Z</dcterms:created>
  <dcterms:modified xsi:type="dcterms:W3CDTF">2026-10-05T22:57:39Z</dcterms:modified>
</cp:coreProperties>
</file>